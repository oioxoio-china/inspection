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隧道工程检验批验收用表设计研究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78D4"/>
                </a:solidFill>
              </a:defRPr>
            </a:pPr>
            <a:r>
              <a:t>泸州龙透关隧道工程案例汇报</a:t>
            </a:r>
          </a:p>
          <a:p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泸州龙透关隧道工程需要系统化的验收工具</a:t>
            </a:r>
          </a:p>
          <a:p>
            <a:pPr>
              <a:spcBef>
                <a:spcPts val="1200"/>
              </a:spcBef>
              <a:defRPr sz="2000"/>
            </a:pPr>
            <a:r>
              <a:t>• 涉及两部核心规范：JTG F80/1-2017、JTG/T 3660-2020</a:t>
            </a:r>
          </a:p>
          <a:p>
            <a:pPr>
              <a:spcBef>
                <a:spcPts val="1200"/>
              </a:spcBef>
              <a:defRPr sz="2000"/>
            </a:pPr>
            <a:r>
              <a:t>• 传统检验批用表设计存在规范分离、层级不清等问题</a:t>
            </a:r>
          </a:p>
          <a:p>
            <a:pPr>
              <a:spcBef>
                <a:spcPts val="1200"/>
              </a:spcBef>
              <a:defRPr sz="2000"/>
            </a:pPr>
            <a:r>
              <a:t>• 目标：设计标准化、系统化的检验批验收用表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研究目标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建立20个分项工程的检验批验收用表体系</a:t>
            </a:r>
          </a:p>
          <a:p>
            <a:pPr>
              <a:spcBef>
                <a:spcPts val="1200"/>
              </a:spcBef>
              <a:defRPr sz="2000"/>
            </a:pPr>
            <a:r>
              <a:t>• 融合检验评定标准与施工技术规范</a:t>
            </a:r>
          </a:p>
          <a:p>
            <a:pPr>
              <a:spcBef>
                <a:spcPts val="1200"/>
              </a:spcBef>
              <a:defRPr sz="2000"/>
            </a:pPr>
            <a:r>
              <a:t>• 实现主控项目与一般项目的分级管理</a:t>
            </a:r>
          </a:p>
          <a:p>
            <a:pPr>
              <a:spcBef>
                <a:spcPts val="1200"/>
              </a:spcBef>
              <a:defRPr sz="2000"/>
            </a:pPr>
            <a:r>
              <a:t>• 形成可推广的标准化工具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研究过程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第一阶段（2月27日）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18:05 规范标准分析</a:t>
            </a:r>
          </a:p>
          <a:p>
            <a:pPr>
              <a:spcBef>
                <a:spcPts val="800"/>
              </a:spcBef>
              <a:defRPr sz="1600"/>
            </a:pPr>
            <a:r>
              <a:t>• 18:25 检验批方案设计</a:t>
            </a:r>
          </a:p>
          <a:p>
            <a:pPr>
              <a:spcBef>
                <a:spcPts val="800"/>
              </a:spcBef>
              <a:defRPr sz="1600"/>
            </a:pPr>
            <a:r>
              <a:t>• 19:10 数据整合</a:t>
            </a:r>
          </a:p>
          <a:p>
            <a:pPr>
              <a:spcBef>
                <a:spcPts val="800"/>
              </a:spcBef>
              <a:defRPr sz="1600"/>
            </a:pPr>
            <a:r>
              <a:t>• 19:45 图表整合</a:t>
            </a:r>
          </a:p>
          <a:p>
            <a:pPr>
              <a:spcBef>
                <a:spcPts val="800"/>
              </a:spcBef>
              <a:defRPr sz="1600"/>
            </a:pPr>
            <a:r>
              <a:t>• 20:20 文档输出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第二阶段（2月28日）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03:35 20项检验批详细设计</a:t>
            </a:r>
          </a:p>
          <a:p>
            <a:pPr>
              <a:spcBef>
                <a:spcPts val="800"/>
              </a:spcBef>
              <a:defRPr sz="1600"/>
            </a:pPr>
            <a:r>
              <a:t>• 03:48 主控/一般项目区分</a:t>
            </a:r>
          </a:p>
          <a:p>
            <a:pPr>
              <a:spcBef>
                <a:spcPts val="800"/>
              </a:spcBef>
              <a:defRPr sz="1600"/>
            </a:pPr>
            <a:r>
              <a:t>• 04:00 施工规范质量控制表</a:t>
            </a:r>
          </a:p>
          <a:p>
            <a:pPr>
              <a:spcBef>
                <a:spcPts val="800"/>
              </a:spcBef>
              <a:defRPr sz="1600"/>
            </a:pPr>
            <a:r>
              <a:t>• 04:30 双规范融合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规范融合方法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建立标识体系：【检评】JTG F80/1-2017，【施工】JTG/T 3660-2020</a:t>
            </a:r>
          </a:p>
          <a:p>
            <a:pPr>
              <a:spcBef>
                <a:spcPts val="1200"/>
              </a:spcBef>
              <a:defRPr sz="2000"/>
            </a:pPr>
            <a:r>
              <a:t>• 区分层次：基本要求 → 主控项目/一般项目 → 外观质量</a:t>
            </a:r>
          </a:p>
          <a:p>
            <a:pPr>
              <a:spcBef>
                <a:spcPts val="1200"/>
              </a:spcBef>
              <a:defRPr sz="2000"/>
            </a:pPr>
            <a:r>
              <a:t>• 主控项目（△）必须全部合格</a:t>
            </a:r>
          </a:p>
          <a:p>
            <a:pPr>
              <a:spcBef>
                <a:spcPts val="1200"/>
              </a:spcBef>
              <a:defRPr sz="2000"/>
            </a:pPr>
            <a:r>
              <a:t>• 一般项目允许偏差，合格率≥80%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研究成果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分项工程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20个分项工程</a:t>
            </a:r>
          </a:p>
          <a:p>
            <a:pPr>
              <a:spcBef>
                <a:spcPts val="800"/>
              </a:spcBef>
              <a:defRPr sz="1600"/>
            </a:pPr>
            <a:r>
              <a:t>• 52项主控项目</a:t>
            </a:r>
          </a:p>
          <a:p>
            <a:pPr>
              <a:spcBef>
                <a:spcPts val="800"/>
              </a:spcBef>
              <a:defRPr sz="1600"/>
            </a:pPr>
            <a:r>
              <a:t>• 38项一般项目</a:t>
            </a:r>
          </a:p>
          <a:p>
            <a:pPr>
              <a:spcBef>
                <a:spcPts val="800"/>
              </a:spcBef>
              <a:defRPr sz="1600"/>
            </a:pPr>
            <a:r>
              <a:t>• 38个质量控制标准表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输出文件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融合规范检验批用表.md</a:t>
            </a:r>
          </a:p>
          <a:p>
            <a:pPr>
              <a:spcBef>
                <a:spcPts val="800"/>
              </a:spcBef>
              <a:defRPr sz="1600"/>
            </a:pPr>
            <a:r>
              <a:t>• 融合规范检验批用表.xlsx</a:t>
            </a:r>
          </a:p>
          <a:p>
            <a:pPr>
              <a:spcBef>
                <a:spcPts val="800"/>
              </a:spcBef>
              <a:defRPr sz="1600"/>
            </a:pPr>
            <a:r>
              <a:t>• JTG/T 3660质量控制标准</a:t>
            </a:r>
          </a:p>
          <a:p>
            <a:pPr>
              <a:spcBef>
                <a:spcPts val="800"/>
              </a:spcBef>
              <a:defRPr sz="1600"/>
            </a:pPr>
            <a:r>
              <a:t>• 技术指导书、研究报告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检验批用表结构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一、基本要求【检评】- 检验评定基本要求</a:t>
            </a:r>
          </a:p>
          <a:p>
            <a:pPr>
              <a:spcBef>
                <a:spcPts val="1200"/>
              </a:spcBef>
              <a:defRPr sz="2000"/>
            </a:pPr>
            <a:r>
              <a:t>• 一、基本要求【施工】- 施工技术规范要求</a:t>
            </a:r>
          </a:p>
          <a:p>
            <a:pPr>
              <a:spcBef>
                <a:spcPts val="1200"/>
              </a:spcBef>
              <a:defRPr sz="2000"/>
            </a:pPr>
            <a:r>
              <a:t>• 二、主控项目（带△必须全部合格）</a:t>
            </a:r>
          </a:p>
          <a:p>
            <a:pPr>
              <a:spcBef>
                <a:spcPts val="1200"/>
              </a:spcBef>
              <a:defRPr sz="2000"/>
            </a:pPr>
            <a:r>
              <a:t>• 三、一般项目（允许偏差项目合格率≥80%）</a:t>
            </a:r>
          </a:p>
          <a:p>
            <a:pPr>
              <a:spcBef>
                <a:spcPts val="1200"/>
              </a:spcBef>
              <a:defRPr sz="2000"/>
            </a:pPr>
            <a:r>
              <a:t>• 四、外观质量</a:t>
            </a:r>
          </a:p>
          <a:p>
            <a:pPr>
              <a:spcBef>
                <a:spcPts val="1200"/>
              </a:spcBef>
              <a:defRPr sz="2000"/>
            </a:pPr>
            <a:r>
              <a:t>• 五、验收签字栏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研究创新点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双规范融合设计：首次系统整合检验评定与施工规范</a:t>
            </a:r>
          </a:p>
          <a:p>
            <a:pPr>
              <a:spcBef>
                <a:spcPts val="1200"/>
              </a:spcBef>
              <a:defRPr sz="2000"/>
            </a:pPr>
            <a:r>
              <a:t>• 分级管理体系：主控项目与一般项目清晰区分</a:t>
            </a:r>
          </a:p>
          <a:p>
            <a:pPr>
              <a:spcBef>
                <a:spcPts val="1200"/>
              </a:spcBef>
              <a:defRPr sz="2000"/>
            </a:pPr>
            <a:r>
              <a:t>• 标准化输出：Markdown、Excel多格式支持</a:t>
            </a:r>
          </a:p>
          <a:p>
            <a:pPr>
              <a:spcBef>
                <a:spcPts val="1200"/>
              </a:spcBef>
              <a:defRPr sz="2000"/>
            </a:pPr>
            <a:r>
              <a:t>• 实用性强：可直接应用于工程验收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应用建议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确定分项工程 → 选择对应表格 → 填写实测数据</a:t>
            </a:r>
          </a:p>
          <a:p>
            <a:pPr>
              <a:spcBef>
                <a:spcPts val="1200"/>
              </a:spcBef>
              <a:defRPr sz="2000"/>
            </a:pPr>
            <a:r>
              <a:t>• 主控项目必须全部合格，一般项目合格率≥80%</a:t>
            </a:r>
          </a:p>
          <a:p>
            <a:pPr>
              <a:spcBef>
                <a:spcPts val="1200"/>
              </a:spcBef>
              <a:defRPr sz="2000"/>
            </a:pPr>
            <a:r>
              <a:t>• 施工、监理签字归档</a:t>
            </a:r>
          </a:p>
          <a:p>
            <a:pPr>
              <a:spcBef>
                <a:spcPts val="1200"/>
              </a:spcBef>
              <a:defRPr sz="2000"/>
            </a:pPr>
            <a:r>
              <a:t>• 根据工程特点适当调整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累计研究时间：约109分钟（1小时49分钟）</a:t>
            </a:r>
          </a:p>
          <a:p>
            <a:pPr>
              <a:spcBef>
                <a:spcPts val="1200"/>
              </a:spcBef>
              <a:defRPr sz="2000"/>
            </a:pPr>
            <a:r>
              <a:t>• 形成完整成果体系，可推广至其他隧道工程</a:t>
            </a:r>
          </a:p>
          <a:p>
            <a:pPr>
              <a:spcBef>
                <a:spcPts val="1200"/>
              </a:spcBef>
              <a:defRPr sz="2000"/>
            </a:pPr>
            <a:r>
              <a:t>• 后续方向：移动端验收应用、BIM结合、数据分析</a:t>
            </a:r>
          </a:p>
          <a:p>
            <a:pPr>
              <a:spcBef>
                <a:spcPts val="1200"/>
              </a:spcBef>
              <a:defRPr sz="2000"/>
            </a:pPr>
            <a:r>
              <a:t>• 感谢各位聆听！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